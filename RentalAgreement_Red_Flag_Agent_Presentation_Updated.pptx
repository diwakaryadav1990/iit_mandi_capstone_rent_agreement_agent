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4" d="100"/>
          <a:sy n="64" d="100"/>
        </p:scale>
        <p:origin x="72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7241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A0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A0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3108960" cy="320040"/>
          </a:xfrm>
          <a:prstGeom prst="roundRect">
            <a:avLst>
              <a:gd name="adj" fmla="val 28571"/>
            </a:avLst>
          </a:prstGeom>
          <a:solidFill>
            <a:srgbClr val="00A8A8"/>
          </a:solidFill>
          <a:ln>
            <a:solidFill>
              <a:srgbClr val="00A8A8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AI-powered tenant document support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Apartment Rental Agreement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 Flag Agent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94944" y="27889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6E0EA"/>
                </a:solidFill>
              </a:rPr>
              <a:t>Professional concept deck for housing literacy, clause-risk detection, and first-pass rental agreement review.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368" y="5762310"/>
            <a:ext cx="3749040" cy="5029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8C7D6"/>
                </a:solidFill>
              </a:rPr>
              <a:t>Created By Diwakar Yadav.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B8C7D6"/>
                </a:solidFill>
              </a:rPr>
              <a:t>Agentic AI Roll-203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B8C7D6"/>
                </a:solidFill>
              </a:rPr>
              <a:t>8336919016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18120" y="1234440"/>
            <a:ext cx="19659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</a:rPr>
              <a:t>Upload
</a:t>
            </a:r>
            <a:r>
              <a:rPr lang="en-US" sz="1250" dirty="0">
                <a:solidFill>
                  <a:srgbClr val="5B6B7A"/>
                </a:solidFill>
              </a:rPr>
              <a:t>PDF or text agreement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732520" y="2331720"/>
            <a:ext cx="2514600" cy="685800"/>
          </a:xfrm>
          <a:prstGeom prst="roundRect">
            <a:avLst>
              <a:gd name="adj" fmla="val 13333"/>
            </a:avLst>
          </a:prstGeom>
          <a:solidFill>
            <a:srgbClr val="E8F6F6"/>
          </a:solidFill>
          <a:ln w="15240">
            <a:solidFill>
              <a:srgbClr val="E8F6F6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</a:rPr>
              <a:t>Analyze
</a:t>
            </a:r>
            <a:r>
              <a:rPr lang="en-US" sz="1250" dirty="0">
                <a:solidFill>
                  <a:srgbClr val="5B6B7A"/>
                </a:solidFill>
              </a:rPr>
              <a:t>Clause extraction + risk scoring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92440" y="3520440"/>
            <a:ext cx="2697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5240">
            <a:solidFill>
              <a:srgbClr val="FFFF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1F3A"/>
                </a:solidFill>
              </a:rPr>
              <a:t>Explain
</a:t>
            </a:r>
            <a:r>
              <a:rPr lang="en-US" sz="1250" dirty="0">
                <a:solidFill>
                  <a:srgbClr val="5B6B7A"/>
                </a:solidFill>
              </a:rPr>
              <a:t>Plain-English tenant guidance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A0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5E3EC5-02A7-35D9-D865-7B7A2777B1F9}"/>
              </a:ext>
            </a:extLst>
          </p:cNvPr>
          <p:cNvSpPr txBox="1"/>
          <p:nvPr/>
        </p:nvSpPr>
        <p:spPr>
          <a:xfrm>
            <a:off x="566530" y="4084983"/>
            <a:ext cx="5098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Deployed and Live running :</a:t>
            </a:r>
          </a:p>
          <a:p>
            <a:r>
              <a:rPr lang="en-IN" dirty="0">
                <a:solidFill>
                  <a:schemeClr val="bg1"/>
                </a:solidFill>
              </a:rPr>
              <a:t>https://rent-agreement-analyzer.streamlit.app/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7D6"/>
                </a:solidFill>
              </a:rPr>
              <a:t>The challenge for tenants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Tenants often sign before they understand the risk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3624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</a:rPr>
              <a:t>Rental agreements compress legal obligations, financial exposure, and operational rules into dense text.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Dense legal language
</a:t>
            </a:r>
            <a:r>
              <a:rPr lang="en-US" sz="1500" dirty="0">
                <a:solidFill>
                  <a:srgbClr val="5B6B7A"/>
                </a:solidFill>
              </a:rPr>
              <a:t>Average tenants may miss obligations hidden in long clauses, exceptions, and ambiguous landlord discretion.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64008" cy="182880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480560" y="192024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Financial traps
</a:t>
            </a:r>
            <a:r>
              <a:rPr lang="en-US" sz="1500" dirty="0">
                <a:solidFill>
                  <a:srgbClr val="5B6B7A"/>
                </a:solidFill>
              </a:rPr>
              <a:t>Security deposits, painting charges, lock-in periods, penalties, and rent escalations can create unexpected costs.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80560" y="1920240"/>
            <a:ext cx="64008" cy="182880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321040" y="1920240"/>
            <a:ext cx="32461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Advice gap
</a:t>
            </a:r>
            <a:r>
              <a:rPr lang="en-US" sz="1500" dirty="0">
                <a:solidFill>
                  <a:srgbClr val="5B6B7A"/>
                </a:solidFill>
              </a:rPr>
              <a:t>Legal review can be expensive or slow; tenants need a fast first-pass screening before negotiating or signing.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321040" y="1920240"/>
            <a:ext cx="64008" cy="1828800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5800" y="44165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A8"/>
                </a:solidFill>
              </a:rPr>
              <a:t>Core need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4709160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F3A"/>
                </a:solidFill>
              </a:rPr>
              <a:t>A simple, explainable tool that flags risky clauses early and guides tenants toward informed review.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" y="5486400"/>
            <a:ext cx="1691640" cy="320040"/>
          </a:xfrm>
          <a:prstGeom prst="roundRect">
            <a:avLst>
              <a:gd name="adj" fmla="val 28571"/>
            </a:avLst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High-risk clauses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5486400"/>
            <a:ext cx="1417320" cy="320040"/>
          </a:xfrm>
          <a:prstGeom prst="roundRect">
            <a:avLst>
              <a:gd name="adj" fmla="val 28571"/>
            </a:avLst>
          </a:prstGeom>
          <a:solidFill>
            <a:srgbClr val="00A8A8"/>
          </a:solidFill>
          <a:ln>
            <a:solidFill>
              <a:srgbClr val="00A8A8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Plain English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51960" y="5486400"/>
            <a:ext cx="1874520" cy="320040"/>
          </a:xfrm>
          <a:prstGeom prst="roundRect">
            <a:avLst>
              <a:gd name="adj" fmla="val 28571"/>
            </a:avLst>
          </a:prstGeom>
          <a:solidFill>
            <a:srgbClr val="1C4E80"/>
          </a:solidFill>
          <a:ln>
            <a:solidFill>
              <a:srgbClr val="1C4E8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Negotiation prompts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8090"/>
                </a:solidFill>
              </a:rPr>
              <a:t>Red Flag Agent  ·  Housing literacy support  ·  Not legal advice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A0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7D6"/>
                </a:solidFill>
              </a:rPr>
              <a:t>Red Flag Agent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AI assistant for tenant-rights awareness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3624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</a:rPr>
              <a:t>The product converts agreement text into clear risk labels, explanations, and action prompts.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1901952"/>
            <a:ext cx="10881360" cy="18288"/>
          </a:xfrm>
          <a:prstGeom prst="rect">
            <a:avLst/>
          </a:prstGeom>
          <a:solidFill>
            <a:srgbClr val="DDE6EF"/>
          </a:solidFill>
          <a:ln w="12700">
            <a:solidFill>
              <a:srgbClr val="DDE6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C4E8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40080" y="28254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Input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099816"/>
            <a:ext cx="1920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</a:rPr>
              <a:t>Upload PDF or paste raw rental agreement text.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34640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7A7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834640" y="28254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Extract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834640" y="3099816"/>
            <a:ext cx="2331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</a:rPr>
              <a:t>Parse deposits, notice, lock-in, rent hike, maintenance, and penalty terms.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40680" y="2331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357D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5440680" y="282549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Classify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40680" y="3099816"/>
            <a:ext cx="23317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</a:rPr>
              <a:t>Assign High / Medium / Low risk levels using structured prompts.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092440" y="2331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2FA76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092440" y="282549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Explain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92440" y="3099816"/>
            <a:ext cx="26974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7A"/>
                </a:solidFill>
              </a:rPr>
              <a:t>Translate legalese into practical tenant impact and suggested questions.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48006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A8"/>
                </a:solidFill>
              </a:rPr>
              <a:t>Output format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510235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F3A"/>
                </a:solidFill>
              </a:rPr>
              <a:t>Risk dashboard  ·  flagged clauses  ·  plain-English explanation  ·  exportable review notes  ·  legal-advice disclaimer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8090"/>
                </a:solidFill>
              </a:rPr>
              <a:t>Red Flag Agent  ·  Housing literacy support  ·  Not legal advice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A0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 Classification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7D6"/>
                </a:solidFill>
              </a:rPr>
              <a:t>What the agent flags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Clause risk is evaluated by tenant impact, ambiguity, and enforceability concern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3624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</a:rPr>
              <a:t>Each clause is extracted, scored, and explained in ordinary language.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9385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A8"/>
                </a:solidFill>
              </a:rPr>
              <a:t>REPRESENTATIVE CHECKS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267712"/>
            <a:ext cx="33375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Security deposit
</a:t>
            </a:r>
            <a:r>
              <a:rPr lang="en-US" sz="1500" dirty="0">
                <a:solidFill>
                  <a:srgbClr val="5B6B7A"/>
                </a:solidFill>
              </a:rPr>
              <a:t>Amount, refund timeline, deductions, painting or cleaning charges, and proof requirements.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5800" y="2267712"/>
            <a:ext cx="64008" cy="1207008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434840" y="2267712"/>
            <a:ext cx="33375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Notice &amp; lock-in
</a:t>
            </a:r>
            <a:r>
              <a:rPr lang="en-US" sz="1500" dirty="0">
                <a:solidFill>
                  <a:srgbClr val="5B6B7A"/>
                </a:solidFill>
              </a:rPr>
              <a:t>Long notice periods, early-exit penalties, unilateral termination, or automatic lock-in extensions.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34840" y="2267712"/>
            <a:ext cx="64008" cy="1207008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183880" y="2267712"/>
            <a:ext cx="33375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Rent escalation
</a:t>
            </a:r>
            <a:r>
              <a:rPr lang="en-US" sz="1500" dirty="0">
                <a:solidFill>
                  <a:srgbClr val="5B6B7A"/>
                </a:solidFill>
              </a:rPr>
              <a:t>Automatic increases, unclear escalation formula, backdated charges, or unilateral revision rights.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183880" y="2267712"/>
            <a:ext cx="64008" cy="1207008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" y="3822192"/>
            <a:ext cx="33375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Maintenance duties
</a:t>
            </a:r>
            <a:r>
              <a:rPr lang="en-US" sz="1500" dirty="0">
                <a:solidFill>
                  <a:srgbClr val="5B6B7A"/>
                </a:solidFill>
              </a:rPr>
              <a:t>Vague responsibilities, excessive repair transfer to tenant, or landlord repair delays without SLA.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85800" y="3822192"/>
            <a:ext cx="64008" cy="1207008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434840" y="3822192"/>
            <a:ext cx="33375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Access &amp; privacy
</a:t>
            </a:r>
            <a:r>
              <a:rPr lang="en-US" sz="1500" dirty="0">
                <a:solidFill>
                  <a:srgbClr val="5B6B7A"/>
                </a:solidFill>
              </a:rPr>
              <a:t>Unrestricted entry, inspection without notice, or broad rights to store/retain tenant data.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434840" y="3822192"/>
            <a:ext cx="64008" cy="1207008"/>
          </a:xfrm>
          <a:prstGeom prst="rect">
            <a:avLst/>
          </a:prstGeom>
          <a:solidFill>
            <a:srgbClr val="7357D8"/>
          </a:solidFill>
          <a:ln w="12700">
            <a:solidFill>
              <a:srgbClr val="7357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183880" y="3822192"/>
            <a:ext cx="333756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Dispute handling
</a:t>
            </a:r>
            <a:r>
              <a:rPr lang="en-US" sz="1500" dirty="0">
                <a:solidFill>
                  <a:srgbClr val="5B6B7A"/>
                </a:solidFill>
              </a:rPr>
              <a:t>One-sided arbitration, jurisdiction inconvenience, waiver of rights, or unclear remedy process.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183880" y="3822192"/>
            <a:ext cx="64008" cy="1207008"/>
          </a:xfrm>
          <a:prstGeom prst="rect">
            <a:avLst/>
          </a:prstGeom>
          <a:solidFill>
            <a:srgbClr val="2FA76D"/>
          </a:solidFill>
          <a:ln w="12700">
            <a:solidFill>
              <a:srgbClr val="2FA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85800" y="5577840"/>
            <a:ext cx="868680" cy="320040"/>
          </a:xfrm>
          <a:prstGeom prst="roundRect">
            <a:avLst>
              <a:gd name="adj" fmla="val 28571"/>
            </a:avLst>
          </a:prstGeom>
          <a:solidFill>
            <a:srgbClr val="D94A4A"/>
          </a:solidFill>
          <a:ln>
            <a:solidFill>
              <a:srgbClr val="D94A4A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High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91640" y="5577840"/>
            <a:ext cx="1051560" cy="320040"/>
          </a:xfrm>
          <a:prstGeom prst="roundRect">
            <a:avLst>
              <a:gd name="adj" fmla="val 28571"/>
            </a:avLst>
          </a:prstGeom>
          <a:solidFill>
            <a:srgbClr val="E9A23B"/>
          </a:solidFill>
          <a:ln>
            <a:solidFill>
              <a:srgbClr val="E9A23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Medium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880360" y="5577840"/>
            <a:ext cx="777240" cy="320040"/>
          </a:xfrm>
          <a:prstGeom prst="roundRect">
            <a:avLst>
              <a:gd name="adj" fmla="val 28571"/>
            </a:avLst>
          </a:prstGeom>
          <a:solidFill>
            <a:srgbClr val="2FA76D"/>
          </a:solidFill>
          <a:ln>
            <a:solidFill>
              <a:srgbClr val="2FA76D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Low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5641848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A"/>
                </a:solidFill>
              </a:rPr>
              <a:t>Risk labels are first-pass indicators, not legal conclusions.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8090"/>
                </a:solidFill>
              </a:rPr>
              <a:t>Red Flag Agent  ·  Housing literacy support  ·  Not legal advice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A0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0B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82296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sz="700" b="1">
                <a:solidFill>
                  <a:srgbClr val="FFFFFF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82296"/>
            <a:ext cx="2240280" cy="1828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r"/>
            <a:r>
              <a:rPr sz="700" b="0">
                <a:solidFill>
                  <a:srgbClr val="FFFFFF"/>
                </a:solidFill>
                <a:latin typeface="Aptos"/>
              </a:rPr>
              <a:t>Mermaid-aligned flowchart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566928"/>
            <a:ext cx="2678041" cy="415498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lang="en-US" sz="2100" b="1" dirty="0">
                <a:solidFill>
                  <a:srgbClr val="0B1F35"/>
                </a:solidFill>
                <a:latin typeface="Aptos"/>
              </a:rPr>
              <a:t>S</a:t>
            </a:r>
            <a:r>
              <a:rPr sz="2100" b="1" dirty="0">
                <a:solidFill>
                  <a:srgbClr val="0B1F35"/>
                </a:solidFill>
                <a:latin typeface="Aptos"/>
              </a:rPr>
              <a:t>ystem </a:t>
            </a:r>
            <a:r>
              <a:rPr lang="en-US" sz="2100" b="1" dirty="0">
                <a:solidFill>
                  <a:srgbClr val="0B1F35"/>
                </a:solidFill>
                <a:latin typeface="Aptos"/>
              </a:rPr>
              <a:t>A</a:t>
            </a:r>
            <a:r>
              <a:rPr sz="2100" b="1" dirty="0">
                <a:solidFill>
                  <a:srgbClr val="0B1F35"/>
                </a:solidFill>
                <a:latin typeface="Aptos"/>
              </a:rPr>
              <a:t>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896112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sz="860" b="0">
                <a:solidFill>
                  <a:srgbClr val="667085"/>
                </a:solidFill>
                <a:latin typeface="Aptos"/>
              </a:rPr>
              <a:t>Matches the updated flow: API key handling, PDF parsing, Gemini classification, Pydantic validation, local logging, and color-coded output.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298448"/>
            <a:ext cx="2788920" cy="4343400"/>
          </a:xfrm>
          <a:prstGeom prst="roundRect">
            <a:avLst/>
          </a:prstGeom>
          <a:solidFill>
            <a:srgbClr val="E6FFFB"/>
          </a:solidFill>
          <a:ln w="13970">
            <a:solidFill>
              <a:srgbClr val="00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" y="1389888"/>
            <a:ext cx="2569463" cy="1828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sz="940" b="1">
                <a:solidFill>
                  <a:srgbClr val="00A89D"/>
                </a:solidFill>
                <a:latin typeface="Aptos"/>
              </a:rPr>
              <a:t>Client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618488"/>
            <a:ext cx="2569463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sz="680" b="0">
                <a:solidFill>
                  <a:srgbClr val="667085"/>
                </a:solidFill>
                <a:latin typeface="Aptos"/>
              </a:rPr>
              <a:t>ui/components.py, main.py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298448"/>
            <a:ext cx="1874519" cy="4343400"/>
          </a:xfrm>
          <a:prstGeom prst="roundRect">
            <a:avLst/>
          </a:prstGeom>
          <a:solidFill>
            <a:srgbClr val="EAF2FF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11296" y="1389888"/>
            <a:ext cx="1655063" cy="1828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sz="940" b="1">
                <a:solidFill>
                  <a:srgbClr val="2563EB"/>
                </a:solidFill>
                <a:latin typeface="Aptos"/>
              </a:rPr>
              <a:t>Utility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1618488"/>
            <a:ext cx="1655063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sz="680" b="0">
                <a:solidFill>
                  <a:srgbClr val="667085"/>
                </a:solidFill>
                <a:latin typeface="Aptos"/>
              </a:rPr>
              <a:t>utils/pdf_helper.py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04688" y="1298448"/>
            <a:ext cx="2788920" cy="4343400"/>
          </a:xfrm>
          <a:prstGeom prst="roundRect">
            <a:avLst/>
          </a:prstGeom>
          <a:solidFill>
            <a:srgbClr val="F3ECFF"/>
          </a:solidFill>
          <a:ln w="1397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14416" y="1389888"/>
            <a:ext cx="2569463" cy="1828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sz="940" b="1">
                <a:solidFill>
                  <a:srgbClr val="7C3AED"/>
                </a:solidFill>
                <a:latin typeface="Aptos"/>
              </a:rPr>
              <a:t>Core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14416" y="1618488"/>
            <a:ext cx="2569463" cy="164592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sz="680" b="0">
                <a:solidFill>
                  <a:srgbClr val="667085"/>
                </a:solidFill>
                <a:latin typeface="Aptos"/>
              </a:rPr>
              <a:t>core/agent.py, core/logger.py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49640" y="1298448"/>
            <a:ext cx="3246120" cy="4343400"/>
          </a:xfrm>
          <a:prstGeom prst="roundRect">
            <a:avLst/>
          </a:prstGeom>
          <a:solidFill>
            <a:srgbClr val="FFF7E6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59367" y="1389888"/>
            <a:ext cx="3026663" cy="18288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sz="940" b="1">
                <a:solidFill>
                  <a:srgbClr val="F59E0B"/>
                </a:solidFill>
                <a:latin typeface="Aptos"/>
              </a:rPr>
              <a:t>Storage &amp; External Services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234440" y="2350008"/>
            <a:ext cx="91440" cy="393192"/>
          </a:xfrm>
          <a:prstGeom prst="line">
            <a:avLst/>
          </a:prstGeom>
          <a:ln w="12700">
            <a:solidFill>
              <a:srgbClr val="00A8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08760" y="2350008"/>
            <a:ext cx="246888" cy="393192"/>
          </a:xfrm>
          <a:prstGeom prst="line">
            <a:avLst/>
          </a:prstGeom>
          <a:ln w="12700">
            <a:solidFill>
              <a:srgbClr val="00A89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06040" y="2029968"/>
            <a:ext cx="1005840" cy="676656"/>
          </a:xfrm>
          <a:prstGeom prst="line">
            <a:avLst/>
          </a:prstGeom>
          <a:ln w="12700">
            <a:solidFill>
              <a:srgbClr val="2563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2606040" y="2267712"/>
            <a:ext cx="1005840" cy="612648"/>
          </a:xfrm>
          <a:prstGeom prst="line">
            <a:avLst/>
          </a:prstGeom>
          <a:ln w="12700">
            <a:solidFill>
              <a:srgbClr val="2563E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606040" y="1993392"/>
            <a:ext cx="3429000" cy="91439"/>
          </a:xfrm>
          <a:prstGeom prst="line">
            <a:avLst/>
          </a:prstGeom>
          <a:ln w="14604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12280" y="2395728"/>
            <a:ext cx="0" cy="512064"/>
          </a:xfrm>
          <a:prstGeom prst="line">
            <a:avLst/>
          </a:prstGeom>
          <a:ln w="1270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89520" y="2048256"/>
            <a:ext cx="1755648" cy="109728"/>
          </a:xfrm>
          <a:prstGeom prst="line">
            <a:avLst/>
          </a:prstGeom>
          <a:ln w="1397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7589520" y="2267712"/>
            <a:ext cx="1755648" cy="128016"/>
          </a:xfrm>
          <a:prstGeom prst="line">
            <a:avLst/>
          </a:prstGeom>
          <a:ln w="12700">
            <a:solidFill>
              <a:srgbClr val="F59E0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2606040" y="2267712"/>
            <a:ext cx="3429000" cy="932688"/>
          </a:xfrm>
          <a:prstGeom prst="line">
            <a:avLst/>
          </a:prstGeom>
          <a:ln w="12700">
            <a:solidFill>
              <a:srgbClr val="7C3AED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606040" y="2240280"/>
            <a:ext cx="3429000" cy="2167128"/>
          </a:xfrm>
          <a:prstGeom prst="line">
            <a:avLst/>
          </a:prstGeom>
          <a:ln w="12700">
            <a:solidFill>
              <a:srgbClr val="16A34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7589520" y="4407408"/>
            <a:ext cx="1719072" cy="36576"/>
          </a:xfrm>
          <a:prstGeom prst="line">
            <a:avLst/>
          </a:prstGeom>
          <a:ln w="127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55648" y="2350008"/>
            <a:ext cx="0" cy="1728216"/>
          </a:xfrm>
          <a:prstGeom prst="line">
            <a:avLst/>
          </a:prstGeom>
          <a:ln w="12700">
            <a:solidFill>
              <a:srgbClr val="00A89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14400" y="1828800"/>
            <a:ext cx="1691640" cy="521207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27432" rIns="64008" bIns="27432" rtlCol="0" anchor="ctr"/>
          <a:lstStyle/>
          <a:p>
            <a:pPr algn="ctr"/>
            <a:r>
              <a:rPr sz="670" b="1">
                <a:solidFill>
                  <a:srgbClr val="00A89D"/>
                </a:solidFill>
              </a:rPr>
              <a:t>UI
</a:t>
            </a:r>
            <a:r>
              <a:rPr sz="840" b="1">
                <a:solidFill>
                  <a:srgbClr val="0B1F35"/>
                </a:solidFill>
              </a:rPr>
              <a:t>Streamlit
Web App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2743200"/>
            <a:ext cx="114300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27432" rIns="64008" bIns="27432" rtlCol="0" anchor="ctr"/>
          <a:lstStyle/>
          <a:p>
            <a:pPr algn="ctr"/>
            <a:r>
              <a:rPr sz="670" b="1">
                <a:solidFill>
                  <a:srgbClr val="00A89D"/>
                </a:solidFill>
              </a:rPr>
              <a:t>MODAL
</a:t>
            </a:r>
            <a:r>
              <a:rPr sz="710" b="1">
                <a:solidFill>
                  <a:srgbClr val="0B1F35"/>
                </a:solidFill>
              </a:rPr>
              <a:t>API Key
Popup Dialog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47088" y="2743200"/>
            <a:ext cx="105156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27432" rIns="64008" bIns="27432" rtlCol="0" anchor="ctr"/>
          <a:lstStyle/>
          <a:p>
            <a:pPr algn="ctr"/>
            <a:r>
              <a:rPr sz="670" b="1">
                <a:solidFill>
                  <a:srgbClr val="00A89D"/>
                </a:solidFill>
              </a:rPr>
              <a:t>HEADER
</a:t>
            </a:r>
            <a:r>
              <a:rPr sz="660" b="1">
                <a:solidFill>
                  <a:srgbClr val="0B1F35"/>
                </a:solidFill>
              </a:rPr>
              <a:t>Styled Header +
Guardrail Disclaimer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078224"/>
            <a:ext cx="16916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27432" rIns="64008" bIns="27432" rtlCol="0" anchor="ctr"/>
          <a:lstStyle/>
          <a:p>
            <a:pPr algn="ctr"/>
            <a:r>
              <a:rPr sz="670" b="1">
                <a:solidFill>
                  <a:srgbClr val="00A89D"/>
                </a:solidFill>
              </a:rPr>
              <a:t>OUTPUT
</a:t>
            </a:r>
            <a:r>
              <a:rPr sz="720" b="1">
                <a:solidFill>
                  <a:srgbClr val="0B1F35"/>
                </a:solidFill>
              </a:rPr>
              <a:t>Color-coded
Risk Results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11880" y="2487168"/>
            <a:ext cx="1426464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27432" rIns="64008" bIns="27432" rtlCol="0" anchor="ctr"/>
          <a:lstStyle/>
          <a:p>
            <a:pPr algn="ctr"/>
            <a:r>
              <a:rPr sz="670" b="1">
                <a:solidFill>
                  <a:srgbClr val="2563EB"/>
                </a:solidFill>
              </a:rPr>
              <a:t>PDF
</a:t>
            </a:r>
            <a:r>
              <a:rPr sz="840" b="1">
                <a:solidFill>
                  <a:srgbClr val="0B1F35"/>
                </a:solidFill>
              </a:rPr>
              <a:t>PyPDF2
Text Extractor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1847088"/>
            <a:ext cx="1554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27432" rIns="64008" bIns="27432" rtlCol="0" anchor="ctr"/>
          <a:lstStyle/>
          <a:p>
            <a:pPr algn="ctr"/>
            <a:r>
              <a:rPr sz="670" b="1">
                <a:solidFill>
                  <a:srgbClr val="7C3AED"/>
                </a:solidFill>
              </a:rPr>
              <a:t>AGENT
</a:t>
            </a:r>
            <a:r>
              <a:rPr sz="840" b="1">
                <a:solidFill>
                  <a:srgbClr val="0B1F35"/>
                </a:solidFill>
              </a:rPr>
              <a:t>Gemini
AI Agent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35040" y="2907792"/>
            <a:ext cx="1554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27432" rIns="64008" bIns="27432" rtlCol="0" anchor="ctr"/>
          <a:lstStyle/>
          <a:p>
            <a:pPr algn="ctr"/>
            <a:r>
              <a:rPr sz="670" b="1">
                <a:solidFill>
                  <a:srgbClr val="7C3AED"/>
                </a:solidFill>
              </a:rPr>
              <a:t>SCHEMA
</a:t>
            </a:r>
            <a:r>
              <a:rPr sz="840" b="1">
                <a:solidFill>
                  <a:srgbClr val="0B1F35"/>
                </a:solidFill>
              </a:rPr>
              <a:t>Pydantic
Response Schema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0" y="4160520"/>
            <a:ext cx="155448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4008" tIns="27432" rIns="64008" bIns="27432" rtlCol="0" anchor="ctr"/>
          <a:lstStyle/>
          <a:p>
            <a:pPr algn="ctr"/>
            <a:r>
              <a:rPr sz="670" b="1">
                <a:solidFill>
                  <a:srgbClr val="7C3AED"/>
                </a:solidFill>
              </a:rPr>
              <a:t>LOGGER
</a:t>
            </a:r>
            <a:r>
              <a:rPr sz="720" b="1">
                <a:solidFill>
                  <a:srgbClr val="0B1F35"/>
                </a:solidFill>
              </a:rPr>
              <a:t>SQLite Logging
Manager</a:t>
            </a:r>
          </a:p>
        </p:txBody>
      </p:sp>
      <p:sp>
        <p:nvSpPr>
          <p:cNvPr id="39" name="Oval 38"/>
          <p:cNvSpPr/>
          <p:nvPr/>
        </p:nvSpPr>
        <p:spPr>
          <a:xfrm>
            <a:off x="9345168" y="1847088"/>
            <a:ext cx="1417320" cy="713232"/>
          </a:xfrm>
          <a:prstGeom prst="ellipse">
            <a:avLst/>
          </a:prstGeom>
          <a:solidFill>
            <a:srgbClr val="FFFFFF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27432" rtlCol="0" anchor="ctr"/>
          <a:lstStyle/>
          <a:p>
            <a:pPr algn="ctr"/>
            <a:r>
              <a:rPr sz="750" b="1">
                <a:solidFill>
                  <a:srgbClr val="0B1F35"/>
                </a:solidFill>
              </a:rPr>
              <a:t>Gemini
Developer API</a:t>
            </a:r>
          </a:p>
        </p:txBody>
      </p:sp>
      <p:sp>
        <p:nvSpPr>
          <p:cNvPr id="40" name="Can 39"/>
          <p:cNvSpPr/>
          <p:nvPr/>
        </p:nvSpPr>
        <p:spPr>
          <a:xfrm>
            <a:off x="9308592" y="4114800"/>
            <a:ext cx="1490472" cy="566928"/>
          </a:xfrm>
          <a:prstGeom prst="can">
            <a:avLst/>
          </a:prstGeom>
          <a:solidFill>
            <a:srgbClr val="FFFFFF"/>
          </a:solidFill>
          <a:ln w="1397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760" b="1">
                <a:solidFill>
                  <a:srgbClr val="0B1F35"/>
                </a:solidFill>
              </a:rPr>
              <a:t>SQLite
logs.db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" y="2404872"/>
            <a:ext cx="768096" cy="155448"/>
          </a:xfrm>
          <a:prstGeom prst="rect">
            <a:avLst/>
          </a:prstGeom>
          <a:solidFill>
            <a:srgbClr val="F5F7FA"/>
          </a:solidFill>
          <a:ln w="3175">
            <a:solidFill>
              <a:srgbClr val="D7DEE8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590" b="1">
                <a:solidFill>
                  <a:srgbClr val="00A89D"/>
                </a:solidFill>
                <a:latin typeface="Aptos"/>
              </a:rPr>
              <a:t>1 key 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44752" y="2487168"/>
            <a:ext cx="822960" cy="155448"/>
          </a:xfrm>
          <a:prstGeom prst="rect">
            <a:avLst/>
          </a:prstGeom>
          <a:solidFill>
            <a:srgbClr val="F5F7FA"/>
          </a:solidFill>
          <a:ln w="3175">
            <a:solidFill>
              <a:srgbClr val="D7DEE8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590" b="1">
                <a:solidFill>
                  <a:srgbClr val="00A89D"/>
                </a:solidFill>
                <a:latin typeface="Aptos"/>
              </a:rPr>
              <a:t>session_state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2267712"/>
            <a:ext cx="804672" cy="155448"/>
          </a:xfrm>
          <a:prstGeom prst="rect">
            <a:avLst/>
          </a:prstGeom>
          <a:solidFill>
            <a:srgbClr val="F5F7FA"/>
          </a:solidFill>
          <a:ln w="3175">
            <a:solidFill>
              <a:srgbClr val="D7DEE8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590" b="1">
                <a:solidFill>
                  <a:srgbClr val="2563EB"/>
                </a:solidFill>
                <a:latin typeface="Aptos"/>
              </a:rPr>
              <a:t>2 upload PDF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88920" y="2907792"/>
            <a:ext cx="676656" cy="155448"/>
          </a:xfrm>
          <a:prstGeom prst="rect">
            <a:avLst/>
          </a:prstGeom>
          <a:solidFill>
            <a:srgbClr val="F5F7FA"/>
          </a:solidFill>
          <a:ln w="3175">
            <a:solidFill>
              <a:srgbClr val="D7DEE8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590" b="1">
                <a:solidFill>
                  <a:srgbClr val="2563EB"/>
                </a:solidFill>
                <a:latin typeface="Aptos"/>
              </a:rPr>
              <a:t>plain text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87952" y="1810512"/>
            <a:ext cx="804672" cy="155448"/>
          </a:xfrm>
          <a:prstGeom prst="rect">
            <a:avLst/>
          </a:prstGeom>
          <a:solidFill>
            <a:srgbClr val="F5F7FA"/>
          </a:solidFill>
          <a:ln w="3175">
            <a:solidFill>
              <a:srgbClr val="D7DEE8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590" b="1">
                <a:solidFill>
                  <a:srgbClr val="7C3AED"/>
                </a:solidFill>
                <a:latin typeface="Aptos"/>
              </a:rPr>
              <a:t>3 text + key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31152" y="2615184"/>
            <a:ext cx="896112" cy="155448"/>
          </a:xfrm>
          <a:prstGeom prst="rect">
            <a:avLst/>
          </a:prstGeom>
          <a:solidFill>
            <a:srgbClr val="F5F7FA"/>
          </a:solidFill>
          <a:ln w="3175">
            <a:solidFill>
              <a:srgbClr val="D7DEE8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590" b="1">
                <a:solidFill>
                  <a:srgbClr val="7C3AED"/>
                </a:solidFill>
                <a:latin typeface="Aptos"/>
              </a:rPr>
              <a:t>4 structure prompt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01583" y="1828800"/>
            <a:ext cx="950976" cy="155448"/>
          </a:xfrm>
          <a:prstGeom prst="rect">
            <a:avLst/>
          </a:prstGeom>
          <a:solidFill>
            <a:srgbClr val="F5F7FA"/>
          </a:solidFill>
          <a:ln w="3175">
            <a:solidFill>
              <a:srgbClr val="D7DEE8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590" b="1">
                <a:solidFill>
                  <a:srgbClr val="F59E0B"/>
                </a:solidFill>
                <a:latin typeface="Aptos"/>
              </a:rPr>
              <a:t>5 GenerateContent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01583" y="2432304"/>
            <a:ext cx="841248" cy="155448"/>
          </a:xfrm>
          <a:prstGeom prst="rect">
            <a:avLst/>
          </a:prstGeom>
          <a:solidFill>
            <a:srgbClr val="F5F7FA"/>
          </a:solidFill>
          <a:ln w="3175">
            <a:solidFill>
              <a:srgbClr val="D7DEE8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590" b="1">
                <a:solidFill>
                  <a:srgbClr val="F59E0B"/>
                </a:solidFill>
                <a:latin typeface="Aptos"/>
              </a:rPr>
              <a:t>6 JSON response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95544" y="3383280"/>
            <a:ext cx="859536" cy="155448"/>
          </a:xfrm>
          <a:prstGeom prst="rect">
            <a:avLst/>
          </a:prstGeom>
          <a:solidFill>
            <a:srgbClr val="F5F7FA"/>
          </a:solidFill>
          <a:ln w="3175">
            <a:solidFill>
              <a:srgbClr val="D7DEE8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590" b="1">
                <a:solidFill>
                  <a:srgbClr val="7C3AED"/>
                </a:solidFill>
                <a:latin typeface="Aptos"/>
              </a:rPr>
              <a:t>7 validate/parse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87952" y="2487168"/>
            <a:ext cx="859536" cy="155448"/>
          </a:xfrm>
          <a:prstGeom prst="rect">
            <a:avLst/>
          </a:prstGeom>
          <a:solidFill>
            <a:srgbClr val="F5F7FA"/>
          </a:solidFill>
          <a:ln w="3175">
            <a:solidFill>
              <a:srgbClr val="D7DEE8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590" b="1">
                <a:solidFill>
                  <a:srgbClr val="7C3AED"/>
                </a:solidFill>
                <a:latin typeface="Aptos"/>
              </a:rPr>
              <a:t>8 Python object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78808" y="3456432"/>
            <a:ext cx="1024128" cy="155448"/>
          </a:xfrm>
          <a:prstGeom prst="rect">
            <a:avLst/>
          </a:prstGeom>
          <a:solidFill>
            <a:srgbClr val="F5F7FA"/>
          </a:solidFill>
          <a:ln w="3175">
            <a:solidFill>
              <a:srgbClr val="D7DEE8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590" b="1">
                <a:solidFill>
                  <a:srgbClr val="16A34A"/>
                </a:solidFill>
                <a:latin typeface="Aptos"/>
              </a:rPr>
              <a:t>9 execution payload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65008" y="4224528"/>
            <a:ext cx="896112" cy="155448"/>
          </a:xfrm>
          <a:prstGeom prst="rect">
            <a:avLst/>
          </a:prstGeom>
          <a:solidFill>
            <a:srgbClr val="F5F7FA"/>
          </a:solidFill>
          <a:ln w="3175">
            <a:solidFill>
              <a:srgbClr val="D7DEE8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590" b="1">
                <a:solidFill>
                  <a:srgbClr val="F59E0B"/>
                </a:solidFill>
                <a:latin typeface="Aptos"/>
              </a:rPr>
              <a:t>10 insert record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83080" y="3401568"/>
            <a:ext cx="914400" cy="155448"/>
          </a:xfrm>
          <a:prstGeom prst="rect">
            <a:avLst/>
          </a:prstGeom>
          <a:solidFill>
            <a:srgbClr val="F5F7FA"/>
          </a:solidFill>
          <a:ln w="3175">
            <a:solidFill>
              <a:srgbClr val="D7DEE8"/>
            </a:solidFill>
          </a:ln>
        </p:spPr>
        <p:txBody>
          <a:bodyPr wrap="none" anchor="ctr">
            <a:spAutoFit/>
          </a:bodyPr>
          <a:lstStyle/>
          <a:p>
            <a:pPr algn="ctr"/>
            <a:r>
              <a:rPr sz="590" b="1">
                <a:solidFill>
                  <a:srgbClr val="00A89D"/>
                </a:solidFill>
                <a:latin typeface="Aptos"/>
              </a:rPr>
              <a:t>11 display results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" y="5897880"/>
            <a:ext cx="11201400" cy="347472"/>
          </a:xfrm>
          <a:prstGeom prst="roundRect">
            <a:avLst/>
          </a:prstGeom>
          <a:solidFill>
            <a:srgbClr val="0B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Validation: this diagram now matches the provided Mermaid TD flow — client UI, PDF utility, core Gemini/Pydantic/logger layer, and external SQLite/Gemini services.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4048" y="6473952"/>
            <a:ext cx="3840480" cy="13716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l"/>
            <a:r>
              <a:rPr sz="550" b="0">
                <a:solidFill>
                  <a:srgbClr val="667085"/>
                </a:solidFill>
                <a:latin typeface="Aptos"/>
              </a:rPr>
              <a:t>Red Flag Agent  •  Housing literacy support  •  Not legal advice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548872" y="6473952"/>
            <a:ext cx="182880" cy="137160"/>
          </a:xfrm>
          <a:prstGeom prst="rect">
            <a:avLst/>
          </a:prstGeom>
          <a:noFill/>
          <a:ln>
            <a:noFill/>
          </a:ln>
        </p:spPr>
        <p:txBody>
          <a:bodyPr wrap="none" anchor="t">
            <a:spAutoFit/>
          </a:bodyPr>
          <a:lstStyle/>
          <a:p>
            <a:pPr algn="r"/>
            <a:r>
              <a:rPr sz="550" b="0">
                <a:solidFill>
                  <a:srgbClr val="667085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Usage &amp; Deployment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7D6"/>
                </a:solidFill>
              </a:rPr>
              <a:t>Local run path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local deployment for demos and classroom testing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3624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</a:rPr>
              <a:t>The workflow is designed for quick setup, private local analysis, and repeatable sample testing.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0574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1. Install dependencies
</a:t>
            </a:r>
            <a:r>
              <a:rPr lang="en-US" sz="1500" dirty="0">
                <a:solidFill>
                  <a:srgbClr val="5B6B7A"/>
                </a:solidFill>
              </a:rPr>
              <a:t>Create a virtual environment, then run: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</a:rPr>
              <a:t>pip install -r requirements.txt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3232" y="2057400"/>
            <a:ext cx="64008" cy="1371600"/>
          </a:xfrm>
          <a:prstGeom prst="rect">
            <a:avLst/>
          </a:prstGeom>
          <a:solidFill>
            <a:srgbClr val="1C4E80"/>
          </a:solidFill>
          <a:ln w="12700">
            <a:solidFill>
              <a:srgbClr val="1C4E8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480560" y="20574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2. Launch the app
</a:t>
            </a:r>
            <a:r>
              <a:rPr lang="en-US" sz="1500" dirty="0">
                <a:solidFill>
                  <a:srgbClr val="5B6B7A"/>
                </a:solidFill>
              </a:rPr>
              <a:t>Start the Streamlit entry point: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</a:rPr>
              <a:t>python -m streamlit run main.py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480560" y="2057400"/>
            <a:ext cx="64008" cy="137160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29600" y="20574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3. Provide model access
</a:t>
            </a:r>
            <a:r>
              <a:rPr lang="en-US" sz="1500" dirty="0">
                <a:solidFill>
                  <a:srgbClr val="5B6B7A"/>
                </a:solidFill>
              </a:rPr>
              <a:t>Enter the Gemini API key through the secure modal or a local api_key.txt for demo use.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0" y="2057400"/>
            <a:ext cx="64008" cy="1371600"/>
          </a:xfrm>
          <a:prstGeom prst="rect">
            <a:avLst/>
          </a:prstGeom>
          <a:solidFill>
            <a:srgbClr val="7357D8"/>
          </a:solidFill>
          <a:ln w="12700">
            <a:solidFill>
              <a:srgbClr val="7357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13232" y="38862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4. Test samples
</a:t>
            </a:r>
            <a:r>
              <a:rPr lang="en-US" sz="1500" dirty="0">
                <a:solidFill>
                  <a:srgbClr val="5B6B7A"/>
                </a:solidFill>
              </a:rPr>
              <a:t>Upload high-risk and low-risk rental agreements from sample_agreements/ to validate classification.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13232" y="3886200"/>
            <a:ext cx="64008" cy="1371600"/>
          </a:xfrm>
          <a:prstGeom prst="rect">
            <a:avLst/>
          </a:prstGeom>
          <a:solidFill>
            <a:srgbClr val="2FA76D"/>
          </a:solidFill>
          <a:ln w="12700">
            <a:solidFill>
              <a:srgbClr val="2FA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480560" y="38862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5. Review report
</a:t>
            </a:r>
            <a:r>
              <a:rPr lang="en-US" sz="1500" dirty="0">
                <a:solidFill>
                  <a:srgbClr val="5B6B7A"/>
                </a:solidFill>
              </a:rPr>
              <a:t>Inspect flagged clauses, risk reasons, tenant-friendly alternatives, and exportable notes.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480560" y="3886200"/>
            <a:ext cx="64008" cy="137160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0" y="3886200"/>
            <a:ext cx="3246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6. Maintain logs
</a:t>
            </a:r>
            <a:r>
              <a:rPr lang="en-US" sz="1500" dirty="0">
                <a:solidFill>
                  <a:srgbClr val="5B6B7A"/>
                </a:solidFill>
              </a:rPr>
              <a:t>Use logs.db for local audit history: timestamp, filename, overall risk score, and run metadata.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0" y="3886200"/>
            <a:ext cx="64008" cy="1371600"/>
          </a:xfrm>
          <a:prstGeom prst="rect">
            <a:avLst/>
          </a:prstGeom>
          <a:solidFill>
            <a:srgbClr val="D94A4A"/>
          </a:solidFill>
          <a:ln w="12700">
            <a:solidFill>
              <a:srgbClr val="D94A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8090"/>
                </a:solidFill>
              </a:rPr>
              <a:t>Red Flag Agent  ·  Housing literacy support  ·  Not legal advice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A0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502920" y="11887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Real-World Impact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58200" y="14630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B8C7D6"/>
                </a:solidFill>
              </a:rPr>
              <a:t>Housing literacy and equity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goal is not to replace lawyers — it is to help tenants ask better questions sooner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3624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</a:rPr>
              <a:t>Red Flag Agent creates a practical first-pass safety net before a tenant signs.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2057400"/>
            <a:ext cx="4983480" cy="30175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8A8"/>
                </a:solidFill>
              </a:rPr>
              <a:t>Impact thesis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761488"/>
            <a:ext cx="434340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Clearer agreements lead to better negotiation, fewer surprises, and more informed consent.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914400" y="4224528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E4"/>
                </a:solidFill>
              </a:rPr>
              <a:t>Built as an educational support tool with legal-advice guardrails and human review at the center.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63640" y="201168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Empowers tenants
</a:t>
            </a:r>
            <a:r>
              <a:rPr lang="en-US" sz="1500" dirty="0">
                <a:solidFill>
                  <a:srgbClr val="5B6B7A"/>
                </a:solidFill>
              </a:rPr>
              <a:t>Supports negotiation by surfacing concrete clause-level issues before signing.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63640" y="2011680"/>
            <a:ext cx="64008" cy="822960"/>
          </a:xfrm>
          <a:prstGeom prst="rect">
            <a:avLst/>
          </a:prstGeom>
          <a:solidFill>
            <a:srgbClr val="2FA76D"/>
          </a:solidFill>
          <a:ln w="12700">
            <a:solidFill>
              <a:srgbClr val="2FA7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63640" y="306324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Reduces avoidable disputes
</a:t>
            </a:r>
            <a:r>
              <a:rPr lang="en-US" sz="1500" dirty="0">
                <a:solidFill>
                  <a:srgbClr val="5B6B7A"/>
                </a:solidFill>
              </a:rPr>
              <a:t>Clarifies deposit deductions, notice obligations, maintenance duties, and rent changes early.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3063240"/>
            <a:ext cx="64008" cy="82296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63640" y="411480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DE6EF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</a:rPr>
              <a:t>Scales housing literacy
</a:t>
            </a:r>
            <a:r>
              <a:rPr lang="en-US" sz="1500" dirty="0">
                <a:solidFill>
                  <a:srgbClr val="5B6B7A"/>
                </a:solidFill>
              </a:rPr>
              <a:t>Provides accessible explanations that can be used by students, professionals, and first-time renters.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63640" y="4114800"/>
            <a:ext cx="64008" cy="822960"/>
          </a:xfrm>
          <a:prstGeom prst="rect">
            <a:avLst/>
          </a:prstGeom>
          <a:solidFill>
            <a:srgbClr val="00A8A8"/>
          </a:solidFill>
          <a:ln w="12700">
            <a:solidFill>
              <a:srgbClr val="00A8A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914400" y="5650992"/>
            <a:ext cx="6720840" cy="320040"/>
          </a:xfrm>
          <a:prstGeom prst="roundRect">
            <a:avLst>
              <a:gd name="adj" fmla="val 28571"/>
            </a:avLst>
          </a:prstGeom>
          <a:solidFill>
            <a:srgbClr val="007A7A"/>
          </a:solidFill>
          <a:ln>
            <a:solidFill>
              <a:srgbClr val="007A7A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 step: validate against more real rental agreements and state-specific norms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08090"/>
                </a:solidFill>
              </a:rPr>
              <a:t>Red Flag Agent  ·  Housing literacy support  ·  Not legal advice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200">
                <a:solidFill>
                  <a:srgbClr val="8CA0B3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1025</Words>
  <Application>Microsoft Office PowerPoint</Application>
  <PresentationFormat>Widescreen</PresentationFormat>
  <Paragraphs>135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Antigravity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Apartment Rental Agreement Red Flag Agent</dc:title>
  <dc:subject>Rental Agreement Red Flag Agent</dc:subject>
  <dc:creator>Antigravity AI</dc:creator>
  <cp:lastModifiedBy>Diwakar Yadav</cp:lastModifiedBy>
  <cp:revision>3</cp:revision>
  <dcterms:created xsi:type="dcterms:W3CDTF">2026-07-11T08:08:23Z</dcterms:created>
  <dcterms:modified xsi:type="dcterms:W3CDTF">2026-07-11T08:35:42Z</dcterms:modified>
</cp:coreProperties>
</file>